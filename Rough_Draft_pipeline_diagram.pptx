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57EF32C-C80E-405B-ABD9-01B51CA0D10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9021AAD-D443-419E-B363-65F9DF7094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6F4D7EF-DE8C-44F9-AC53-24524999CA2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EA7E1BF-88DB-4D0E-ADD1-D273FF987DA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FF7E7885-EA75-42B2-ADFA-76404145080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27F01293-41C0-425B-9CF8-9FFDD3B9DB2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1681FF30-E49F-49FC-BD1B-444FAE041CE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0F82DFC7-5892-453E-9919-82904CE54D6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97B23616-80C1-4833-8ED8-BCD0FC00015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80E57315-DE29-4233-9CBD-DF2259582C0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E5E40C09-7F24-4BAD-871F-44F49C240AF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948656D-90EC-4736-AF46-2BBCE4C6A324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B21A433-3443-43A1-B61B-124828909CB2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125B547-7B80-4894-A8AA-F98477D6550C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6506929-5E54-4AC1-8534-75BF5E77EE73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E33F108-7C50-4932-8841-D69D5527F578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BFF552A-DD82-4459-9322-668E2655B2C3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F02C646-29A3-41D9-BF0E-C77D4306A75A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D15DF50-D962-414B-9AF7-EC5E83D7C3E5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85377F8-DFD3-4876-80CF-8A54113675A6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014EE12-DADE-4BD6-BA3F-9C7F04C4BF9B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146D80F-9CDF-4F5E-904A-4007DF1F9027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: Rounded Corners 3"/>
          <p:cNvSpPr/>
          <p:nvPr/>
        </p:nvSpPr>
        <p:spPr>
          <a:xfrm>
            <a:off x="3358440" y="189360"/>
            <a:ext cx="2024640" cy="503640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Illumina PE raw reads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1" name="Straight Arrow Connector 5"/>
          <p:cNvCxnSpPr>
            <a:stCxn id="50" idx="3"/>
            <a:endCxn id="52" idx="1"/>
          </p:cNvCxnSpPr>
          <p:nvPr/>
        </p:nvCxnSpPr>
        <p:spPr>
          <a:xfrm>
            <a:off x="5383080" y="441000"/>
            <a:ext cx="570960" cy="434520"/>
          </a:xfrm>
          <a:prstGeom prst="straightConnector1">
            <a:avLst/>
          </a:prstGeom>
          <a:ln w="0">
            <a:solidFill>
              <a:srgbClr val="156082"/>
            </a:solidFill>
            <a:tailEnd len="med" type="triangle" w="med"/>
          </a:ln>
        </p:spPr>
      </p:cxnSp>
      <p:sp>
        <p:nvSpPr>
          <p:cNvPr id="52" name="Rectangle: Rounded Corners 8"/>
          <p:cNvSpPr/>
          <p:nvPr/>
        </p:nvSpPr>
        <p:spPr>
          <a:xfrm>
            <a:off x="5953680" y="517320"/>
            <a:ext cx="2095560" cy="715680"/>
          </a:xfrm>
          <a:prstGeom prst="roundRect">
            <a:avLst>
              <a:gd name="adj" fmla="val 16667"/>
            </a:avLst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ptos"/>
              </a:rPr>
              <a:t>Clean reads (adapters, length, Qscore)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ptos"/>
              </a:rPr>
              <a:t>Tool: </a:t>
            </a:r>
            <a:r>
              <a:rPr b="0" lang="en-US" sz="1200" spc="-1" strike="noStrike">
                <a:solidFill>
                  <a:schemeClr val="dk1"/>
                </a:solidFill>
                <a:latin typeface="Aptos"/>
              </a:rPr>
              <a:t>staphb/bbtools (bbduk-removal of adapt, bcl to fastq is better at removing adapts) </a:t>
            </a:r>
            <a:r>
              <a:rPr b="1" lang="en-US" sz="1200" spc="-1" strike="noStrike">
                <a:solidFill>
                  <a:schemeClr val="dk1"/>
                </a:solidFill>
                <a:latin typeface="Aptos"/>
              </a:rPr>
              <a:t>fastp instead, already has multiqc module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3" name="Straight Arrow Connector 10"/>
          <p:cNvCxnSpPr>
            <a:stCxn id="52" idx="3"/>
            <a:endCxn id="54" idx="1"/>
          </p:cNvCxnSpPr>
          <p:nvPr/>
        </p:nvCxnSpPr>
        <p:spPr>
          <a:xfrm flipV="1">
            <a:off x="8049240" y="851040"/>
            <a:ext cx="493920" cy="24480"/>
          </a:xfrm>
          <a:prstGeom prst="straightConnector1">
            <a:avLst/>
          </a:prstGeom>
          <a:ln w="0">
            <a:solidFill>
              <a:srgbClr val="156082"/>
            </a:solidFill>
            <a:tailEnd len="med" type="triangle" w="med"/>
          </a:ln>
        </p:spPr>
      </p:cxnSp>
      <p:sp>
        <p:nvSpPr>
          <p:cNvPr id="54" name="Rectangle: Rounded Corners 11"/>
          <p:cNvSpPr/>
          <p:nvPr/>
        </p:nvSpPr>
        <p:spPr>
          <a:xfrm>
            <a:off x="8542800" y="599400"/>
            <a:ext cx="2024640" cy="503640"/>
          </a:xfrm>
          <a:prstGeom prst="roundRect">
            <a:avLst>
              <a:gd name="adj" fmla="val 16667"/>
            </a:avLst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ptos"/>
              </a:rPr>
              <a:t>Fastqc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ptos"/>
              </a:rPr>
              <a:t>Tool: staphb/fastqc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5" name="Straight Arrow Connector 13"/>
          <p:cNvCxnSpPr>
            <a:stCxn id="50" idx="2"/>
            <a:endCxn id="56" idx="0"/>
          </p:cNvCxnSpPr>
          <p:nvPr/>
        </p:nvCxnSpPr>
        <p:spPr>
          <a:xfrm flipH="1">
            <a:off x="2734920" y="693000"/>
            <a:ext cx="1636200" cy="807120"/>
          </a:xfrm>
          <a:prstGeom prst="straightConnector1">
            <a:avLst/>
          </a:prstGeom>
          <a:ln w="0">
            <a:solidFill>
              <a:srgbClr val="156082"/>
            </a:solidFill>
            <a:tailEnd len="med" type="triangle" w="med"/>
          </a:ln>
        </p:spPr>
      </p:cxnSp>
      <p:sp>
        <p:nvSpPr>
          <p:cNvPr id="56" name="Rectangle: Rounded Corners 14"/>
          <p:cNvSpPr/>
          <p:nvPr/>
        </p:nvSpPr>
        <p:spPr>
          <a:xfrm>
            <a:off x="1722600" y="1499760"/>
            <a:ext cx="2024640" cy="503640"/>
          </a:xfrm>
          <a:prstGeom prst="roundRect">
            <a:avLst>
              <a:gd name="adj" fmla="val 16667"/>
            </a:avLst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ptos"/>
              </a:rPr>
              <a:t>MLST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ptos"/>
              </a:rPr>
              <a:t>Tool: staphb/srst2 (built in DB is more recent)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7" name="Straight Arrow Connector 15"/>
          <p:cNvCxnSpPr>
            <a:stCxn id="56" idx="2"/>
            <a:endCxn id="58" idx="0"/>
          </p:cNvCxnSpPr>
          <p:nvPr/>
        </p:nvCxnSpPr>
        <p:spPr>
          <a:xfrm flipH="1">
            <a:off x="2622600" y="2003400"/>
            <a:ext cx="112680" cy="406440"/>
          </a:xfrm>
          <a:prstGeom prst="straightConnector1">
            <a:avLst/>
          </a:prstGeom>
          <a:ln w="0">
            <a:solidFill>
              <a:srgbClr val="156082"/>
            </a:solidFill>
            <a:tailEnd len="med" type="triangle" w="med"/>
          </a:ln>
        </p:spPr>
      </p:cxnSp>
      <p:sp>
        <p:nvSpPr>
          <p:cNvPr id="58" name="Rectangle: Rounded Corners 16"/>
          <p:cNvSpPr/>
          <p:nvPr/>
        </p:nvSpPr>
        <p:spPr>
          <a:xfrm>
            <a:off x="1588320" y="2409480"/>
            <a:ext cx="2068920" cy="640440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ptos"/>
              </a:rPr>
              <a:t>Extract new MLST alleles (samtools, freebayes, others)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9" name="Straight Arrow Connector 19"/>
          <p:cNvCxnSpPr>
            <a:stCxn id="60" idx="2"/>
            <a:endCxn id="61" idx="0"/>
          </p:cNvCxnSpPr>
          <p:nvPr/>
        </p:nvCxnSpPr>
        <p:spPr>
          <a:xfrm flipH="1">
            <a:off x="7502760" y="2330280"/>
            <a:ext cx="342360" cy="870480"/>
          </a:xfrm>
          <a:prstGeom prst="straightConnector1">
            <a:avLst/>
          </a:prstGeom>
          <a:ln w="0">
            <a:solidFill>
              <a:srgbClr val="156082"/>
            </a:solidFill>
            <a:tailEnd len="med" type="triangle" w="med"/>
          </a:ln>
        </p:spPr>
      </p:cxnSp>
      <p:sp>
        <p:nvSpPr>
          <p:cNvPr id="62" name="Rectangle: Rounded Corners 22"/>
          <p:cNvSpPr/>
          <p:nvPr/>
        </p:nvSpPr>
        <p:spPr>
          <a:xfrm>
            <a:off x="9144000" y="2971800"/>
            <a:ext cx="1892160" cy="1828440"/>
          </a:xfrm>
          <a:prstGeom prst="roundRect">
            <a:avLst>
              <a:gd name="adj" fmla="val 16667"/>
            </a:avLst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ptos"/>
              </a:rPr>
              <a:t>Emm typing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ptos"/>
              </a:rPr>
              <a:t>Tool: NCBI blast docker + CDC DB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ptos"/>
              </a:rPr>
              <a:t>Tool alt: staphb/</a:t>
            </a:r>
            <a:r>
              <a:rPr b="1" lang="en-US" sz="1200" spc="-1" strike="noStrike">
                <a:solidFill>
                  <a:schemeClr val="dk1"/>
                </a:solidFill>
                <a:latin typeface="Aptos"/>
              </a:rPr>
              <a:t>emmtyper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ptos"/>
              </a:rPr>
              <a:t>Have pseudo gene that blast will pick up on, looks for hits on pse emm gene and filters that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Rectangle: Rounded Corners 23"/>
          <p:cNvSpPr/>
          <p:nvPr/>
        </p:nvSpPr>
        <p:spPr>
          <a:xfrm>
            <a:off x="6400800" y="3200400"/>
            <a:ext cx="2203920" cy="709920"/>
          </a:xfrm>
          <a:prstGeom prst="roundRect">
            <a:avLst>
              <a:gd name="adj" fmla="val 16667"/>
            </a:avLst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ptos"/>
              </a:rPr>
              <a:t>PBP typing (accur issues)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ptos"/>
              </a:rPr>
              <a:t>staphb/</a:t>
            </a:r>
            <a:r>
              <a:rPr b="1" lang="en-US" sz="1200" spc="-1" strike="noStrike">
                <a:solidFill>
                  <a:schemeClr val="dk1"/>
                </a:solidFill>
                <a:latin typeface="Aptos"/>
              </a:rPr>
              <a:t>pbptyper</a:t>
            </a:r>
            <a:r>
              <a:rPr b="0" lang="en-US" sz="1200" spc="-1" strike="noStrike">
                <a:solidFill>
                  <a:schemeClr val="dk1"/>
                </a:solidFill>
                <a:latin typeface="Aptos"/>
              </a:rPr>
              <a:t> + CDC DB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Rectangle: Rounded Corners 2"/>
          <p:cNvSpPr/>
          <p:nvPr/>
        </p:nvSpPr>
        <p:spPr>
          <a:xfrm>
            <a:off x="6832440" y="1826640"/>
            <a:ext cx="2024640" cy="503640"/>
          </a:xfrm>
          <a:prstGeom prst="roundRect">
            <a:avLst>
              <a:gd name="adj" fmla="val 16667"/>
            </a:avLst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ptos"/>
              </a:rPr>
              <a:t>Denovo assembly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ptos"/>
              </a:rPr>
              <a:t>Tool: staphb/shovill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3" name="Straight Arrow Connector 6"/>
          <p:cNvCxnSpPr>
            <a:stCxn id="52" idx="2"/>
            <a:endCxn id="60" idx="0"/>
          </p:cNvCxnSpPr>
          <p:nvPr/>
        </p:nvCxnSpPr>
        <p:spPr>
          <a:xfrm>
            <a:off x="7001280" y="1233000"/>
            <a:ext cx="843840" cy="594000"/>
          </a:xfrm>
          <a:prstGeom prst="straightConnector1">
            <a:avLst/>
          </a:prstGeom>
          <a:ln w="0">
            <a:solidFill>
              <a:srgbClr val="156082"/>
            </a:solidFill>
            <a:tailEnd len="med" type="triangle" w="med"/>
          </a:ln>
        </p:spPr>
      </p:cxnSp>
      <p:cxnSp>
        <p:nvCxnSpPr>
          <p:cNvPr id="64" name="Straight Arrow Connector 27"/>
          <p:cNvCxnSpPr>
            <a:stCxn id="60" idx="2"/>
            <a:endCxn id="62" idx="0"/>
          </p:cNvCxnSpPr>
          <p:nvPr/>
        </p:nvCxnSpPr>
        <p:spPr>
          <a:xfrm>
            <a:off x="7844760" y="2330280"/>
            <a:ext cx="2245680" cy="641880"/>
          </a:xfrm>
          <a:prstGeom prst="straightConnector1">
            <a:avLst/>
          </a:prstGeom>
          <a:ln w="0">
            <a:solidFill>
              <a:srgbClr val="156082"/>
            </a:solidFill>
            <a:tailEnd len="med" type="triangle" w="med"/>
          </a:ln>
        </p:spPr>
      </p:cxnSp>
      <p:sp>
        <p:nvSpPr>
          <p:cNvPr id="65" name="Rectangle: Rounded Corners 36"/>
          <p:cNvSpPr/>
          <p:nvPr/>
        </p:nvSpPr>
        <p:spPr>
          <a:xfrm>
            <a:off x="2975040" y="3050280"/>
            <a:ext cx="2187720" cy="711000"/>
          </a:xfrm>
          <a:prstGeom prst="roundRect">
            <a:avLst>
              <a:gd name="adj" fmla="val 16667"/>
            </a:avLst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ptos"/>
              </a:rPr>
              <a:t>AMR typing (RES,ARG,RESFI)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ptos"/>
              </a:rPr>
              <a:t>Tool: staphb/srst2 + CDC DB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Rectangle: Rounded Corners 37"/>
          <p:cNvSpPr/>
          <p:nvPr/>
        </p:nvSpPr>
        <p:spPr>
          <a:xfrm>
            <a:off x="3886200" y="4235760"/>
            <a:ext cx="1951200" cy="1021680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ptos"/>
              </a:rPr>
              <a:t>FLQ, MLS, plus other resistance targets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ptos"/>
              </a:rPr>
              <a:t>(perl or convert to python, includes freebayes)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7" name="Straight Arrow Connector 41"/>
          <p:cNvCxnSpPr>
            <a:stCxn id="65" idx="2"/>
            <a:endCxn id="66" idx="0"/>
          </p:cNvCxnSpPr>
          <p:nvPr/>
        </p:nvCxnSpPr>
        <p:spPr>
          <a:xfrm>
            <a:off x="4068720" y="3761280"/>
            <a:ext cx="793440" cy="474840"/>
          </a:xfrm>
          <a:prstGeom prst="straightConnector1">
            <a:avLst/>
          </a:prstGeom>
          <a:ln w="0">
            <a:solidFill>
              <a:srgbClr val="156082"/>
            </a:solidFill>
            <a:tailEnd len="med" type="triangle" w="med"/>
          </a:ln>
        </p:spPr>
      </p:cxnSp>
      <p:sp>
        <p:nvSpPr>
          <p:cNvPr id="68" name="Rectangle: Rounded Corners 45"/>
          <p:cNvSpPr/>
          <p:nvPr/>
        </p:nvSpPr>
        <p:spPr>
          <a:xfrm>
            <a:off x="1600200" y="5486400"/>
            <a:ext cx="2486520" cy="503640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ptos"/>
              </a:rPr>
              <a:t>Phenotypic AMR predictions (MIC/SIR)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ptos"/>
              </a:rPr>
              <a:t>perl or convert to python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9" name="Straight Arrow Connector 56"/>
          <p:cNvCxnSpPr>
            <a:stCxn id="66" idx="2"/>
            <a:endCxn id="68" idx="0"/>
          </p:cNvCxnSpPr>
          <p:nvPr/>
        </p:nvCxnSpPr>
        <p:spPr>
          <a:xfrm flipH="1">
            <a:off x="2843280" y="5257440"/>
            <a:ext cx="2018880" cy="229320"/>
          </a:xfrm>
          <a:prstGeom prst="straightConnector1">
            <a:avLst/>
          </a:prstGeom>
          <a:ln w="0">
            <a:solidFill>
              <a:srgbClr val="156082"/>
            </a:solidFill>
            <a:tailEnd len="med" type="triangle" w="med"/>
          </a:ln>
        </p:spPr>
      </p:cxnSp>
      <p:sp>
        <p:nvSpPr>
          <p:cNvPr id="70" name="Rectangle: Rounded Corners 64"/>
          <p:cNvSpPr/>
          <p:nvPr/>
        </p:nvSpPr>
        <p:spPr>
          <a:xfrm>
            <a:off x="3886200" y="1338480"/>
            <a:ext cx="2263320" cy="718560"/>
          </a:xfrm>
          <a:prstGeom prst="roundRect">
            <a:avLst>
              <a:gd name="adj" fmla="val 16667"/>
            </a:avLst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ptos"/>
              </a:rPr>
              <a:t>Virulence surface typing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ptos"/>
              </a:rPr>
              <a:t>Tool: staphb/srst2 + CDC DB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ptos"/>
              </a:rPr>
              <a:t>* HASA target would need modifications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1" name="Group 67"/>
          <p:cNvGrpSpPr/>
          <p:nvPr/>
        </p:nvGrpSpPr>
        <p:grpSpPr>
          <a:xfrm>
            <a:off x="1688400" y="5994360"/>
            <a:ext cx="9147600" cy="700920"/>
            <a:chOff x="1688400" y="5994360"/>
            <a:chExt cx="9147600" cy="700920"/>
          </a:xfrm>
        </p:grpSpPr>
        <p:sp>
          <p:nvSpPr>
            <p:cNvPr id="72" name="Right Brace 65"/>
            <p:cNvSpPr/>
            <p:nvPr/>
          </p:nvSpPr>
          <p:spPr>
            <a:xfrm rot="5400000">
              <a:off x="6100200" y="1582200"/>
              <a:ext cx="324000" cy="9147600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>
              <a:solidFill>
                <a:srgbClr val="1560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ptos"/>
              </a:endParaRPr>
            </a:p>
          </p:txBody>
        </p:sp>
        <p:sp>
          <p:nvSpPr>
            <p:cNvPr id="73" name="TextBox 66"/>
            <p:cNvSpPr/>
            <p:nvPr/>
          </p:nvSpPr>
          <p:spPr>
            <a:xfrm>
              <a:off x="4831560" y="6331320"/>
              <a:ext cx="28573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800" spc="-1" strike="noStrike">
                  <a:solidFill>
                    <a:schemeClr val="dk1"/>
                  </a:solidFill>
                  <a:latin typeface="Aptos"/>
                </a:rPr>
                <a:t>Summarize using python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4" name="Rectangle: Rounded Corners 68"/>
          <p:cNvSpPr/>
          <p:nvPr/>
        </p:nvSpPr>
        <p:spPr>
          <a:xfrm>
            <a:off x="9555480" y="2296800"/>
            <a:ext cx="2024640" cy="503640"/>
          </a:xfrm>
          <a:prstGeom prst="roundRect">
            <a:avLst>
              <a:gd name="adj" fmla="val 16667"/>
            </a:avLst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ptos"/>
              </a:rPr>
              <a:t>Phylogenetic analysis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ptos"/>
              </a:rPr>
              <a:t>Tool: whatever is quickest to incorporate POPPUNK Group a strep database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5" name="Straight Arrow Connector 69"/>
          <p:cNvCxnSpPr>
            <a:stCxn id="60" idx="3"/>
            <a:endCxn id="74" idx="1"/>
          </p:cNvCxnSpPr>
          <p:nvPr/>
        </p:nvCxnSpPr>
        <p:spPr>
          <a:xfrm>
            <a:off x="8857080" y="2078280"/>
            <a:ext cx="698760" cy="470520"/>
          </a:xfrm>
          <a:prstGeom prst="straightConnector1">
            <a:avLst/>
          </a:prstGeom>
          <a:ln w="0">
            <a:solidFill>
              <a:srgbClr val="156082"/>
            </a:solidFill>
            <a:tailEnd len="med" type="triangle" w="med"/>
          </a:ln>
        </p:spPr>
      </p:cxnSp>
      <p:cxnSp>
        <p:nvCxnSpPr>
          <p:cNvPr id="76" name="Straight Arrow Connector 72"/>
          <p:cNvCxnSpPr>
            <a:stCxn id="50" idx="2"/>
            <a:endCxn id="70" idx="0"/>
          </p:cNvCxnSpPr>
          <p:nvPr/>
        </p:nvCxnSpPr>
        <p:spPr>
          <a:xfrm>
            <a:off x="4370760" y="693000"/>
            <a:ext cx="647280" cy="645840"/>
          </a:xfrm>
          <a:prstGeom prst="straightConnector1">
            <a:avLst/>
          </a:prstGeom>
          <a:ln w="0">
            <a:solidFill>
              <a:srgbClr val="156082"/>
            </a:solidFill>
            <a:tailEnd len="med" type="triangle" w="med"/>
          </a:ln>
        </p:spPr>
      </p:cxnSp>
      <p:cxnSp>
        <p:nvCxnSpPr>
          <p:cNvPr id="77" name="Straight Arrow Connector 75"/>
          <p:cNvCxnSpPr>
            <a:stCxn id="50" idx="2"/>
            <a:endCxn id="65" idx="0"/>
          </p:cNvCxnSpPr>
          <p:nvPr/>
        </p:nvCxnSpPr>
        <p:spPr>
          <a:xfrm flipH="1">
            <a:off x="4068720" y="693000"/>
            <a:ext cx="302400" cy="2357640"/>
          </a:xfrm>
          <a:prstGeom prst="straightConnector1">
            <a:avLst/>
          </a:prstGeom>
          <a:ln w="0">
            <a:solidFill>
              <a:srgbClr val="156082"/>
            </a:solidFill>
            <a:tailEnd len="med" type="triangle" w="med"/>
          </a:ln>
        </p:spPr>
      </p:cxnSp>
      <p:sp>
        <p:nvSpPr>
          <p:cNvPr id="78" name="Rectangle: Rounded Corners 80"/>
          <p:cNvSpPr/>
          <p:nvPr/>
        </p:nvSpPr>
        <p:spPr>
          <a:xfrm>
            <a:off x="578160" y="599400"/>
            <a:ext cx="2024640" cy="503640"/>
          </a:xfrm>
          <a:prstGeom prst="roundRect">
            <a:avLst>
              <a:gd name="adj" fmla="val 16667"/>
            </a:avLst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Aptos"/>
              </a:rPr>
              <a:t>raw read qc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Aptos"/>
              </a:rPr>
              <a:t>Tool: staphb/fastq-scan or fastqc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9" name="Straight Arrow Connector 81"/>
          <p:cNvCxnSpPr>
            <a:stCxn id="50" idx="1"/>
            <a:endCxn id="78" idx="3"/>
          </p:cNvCxnSpPr>
          <p:nvPr/>
        </p:nvCxnSpPr>
        <p:spPr>
          <a:xfrm flipH="1">
            <a:off x="2602800" y="441000"/>
            <a:ext cx="756000" cy="410400"/>
          </a:xfrm>
          <a:prstGeom prst="straightConnector1">
            <a:avLst/>
          </a:prstGeom>
          <a:ln w="0">
            <a:solidFill>
              <a:srgbClr val="156082"/>
            </a:solidFill>
            <a:tailEnd len="med" type="triangle" w="med"/>
          </a:ln>
        </p:spPr>
      </p:cxnSp>
      <p:cxnSp>
        <p:nvCxnSpPr>
          <p:cNvPr id="80" name="Straight Arrow Connector 92"/>
          <p:cNvCxnSpPr>
            <a:stCxn id="61" idx="2"/>
            <a:endCxn id="81" idx="0"/>
          </p:cNvCxnSpPr>
          <p:nvPr/>
        </p:nvCxnSpPr>
        <p:spPr>
          <a:xfrm>
            <a:off x="7502760" y="3910320"/>
            <a:ext cx="54360" cy="363600"/>
          </a:xfrm>
          <a:prstGeom prst="straightConnector1">
            <a:avLst/>
          </a:prstGeom>
          <a:ln w="0">
            <a:solidFill>
              <a:srgbClr val="156082"/>
            </a:solidFill>
            <a:tailEnd len="med" type="triangle" w="med"/>
          </a:ln>
        </p:spPr>
      </p:cxnSp>
      <p:sp>
        <p:nvSpPr>
          <p:cNvPr id="81" name="Rectangle: Rounded Corners 95"/>
          <p:cNvSpPr/>
          <p:nvPr/>
        </p:nvSpPr>
        <p:spPr>
          <a:xfrm>
            <a:off x="6544440" y="4273560"/>
            <a:ext cx="2024640" cy="50364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ptos"/>
              </a:rPr>
              <a:t>Output: PBP type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2" name="Straight Arrow Connector 98"/>
          <p:cNvCxnSpPr>
            <a:stCxn id="62" idx="2"/>
            <a:endCxn id="83" idx="0"/>
          </p:cNvCxnSpPr>
          <p:nvPr/>
        </p:nvCxnSpPr>
        <p:spPr>
          <a:xfrm flipH="1">
            <a:off x="9241920" y="4800240"/>
            <a:ext cx="848520" cy="229320"/>
          </a:xfrm>
          <a:prstGeom prst="straightConnector1">
            <a:avLst/>
          </a:prstGeom>
          <a:ln w="0">
            <a:solidFill>
              <a:srgbClr val="156082"/>
            </a:solidFill>
            <a:tailEnd len="med" type="triangle" w="med"/>
          </a:ln>
        </p:spPr>
      </p:cxnSp>
      <p:sp>
        <p:nvSpPr>
          <p:cNvPr id="83" name="Rectangle: Rounded Corners 99"/>
          <p:cNvSpPr/>
          <p:nvPr/>
        </p:nvSpPr>
        <p:spPr>
          <a:xfrm>
            <a:off x="8229600" y="5029200"/>
            <a:ext cx="2024640" cy="50364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ptos"/>
              </a:rPr>
              <a:t>Output: Emm type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4" name="Straight Arrow Connector 100"/>
          <p:cNvCxnSpPr>
            <a:stCxn id="56" idx="2"/>
            <a:endCxn id="85" idx="0"/>
          </p:cNvCxnSpPr>
          <p:nvPr/>
        </p:nvCxnSpPr>
        <p:spPr>
          <a:xfrm flipH="1">
            <a:off x="842040" y="2003400"/>
            <a:ext cx="1893240" cy="406440"/>
          </a:xfrm>
          <a:prstGeom prst="straightConnector1">
            <a:avLst/>
          </a:prstGeom>
          <a:ln w="0">
            <a:solidFill>
              <a:srgbClr val="156082"/>
            </a:solidFill>
            <a:tailEnd len="med" type="triangle" w="med"/>
          </a:ln>
        </p:spPr>
      </p:cxnSp>
      <p:sp>
        <p:nvSpPr>
          <p:cNvPr id="85" name="Rectangle: Rounded Corners 101"/>
          <p:cNvSpPr/>
          <p:nvPr/>
        </p:nvSpPr>
        <p:spPr>
          <a:xfrm>
            <a:off x="173520" y="2409480"/>
            <a:ext cx="1337400" cy="50364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ptos"/>
              </a:rPr>
              <a:t>Output: Sequence type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6" name="Straight Arrow Connector 109"/>
          <p:cNvCxnSpPr>
            <a:stCxn id="65" idx="2"/>
            <a:endCxn id="68" idx="0"/>
          </p:cNvCxnSpPr>
          <p:nvPr/>
        </p:nvCxnSpPr>
        <p:spPr>
          <a:xfrm flipH="1">
            <a:off x="2843280" y="3761280"/>
            <a:ext cx="1225800" cy="1725480"/>
          </a:xfrm>
          <a:prstGeom prst="straightConnector1">
            <a:avLst/>
          </a:prstGeom>
          <a:ln w="0">
            <a:solidFill>
              <a:srgbClr val="156082"/>
            </a:solidFill>
            <a:tailEnd len="med" type="triangle" w="med"/>
          </a:ln>
        </p:spPr>
      </p:cxnSp>
      <p:sp>
        <p:nvSpPr>
          <p:cNvPr id="87" name="Rectangle: Rounded Corners 117"/>
          <p:cNvSpPr/>
          <p:nvPr/>
        </p:nvSpPr>
        <p:spPr>
          <a:xfrm>
            <a:off x="9663120" y="1474200"/>
            <a:ext cx="2024640" cy="503640"/>
          </a:xfrm>
          <a:prstGeom prst="roundRect">
            <a:avLst>
              <a:gd name="adj" fmla="val 16667"/>
            </a:avLst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ptos"/>
              </a:rPr>
              <a:t>Assembly QC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ptos"/>
              </a:rPr>
              <a:t>Tool: staphb/quast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8" name="Straight Arrow Connector 118"/>
          <p:cNvCxnSpPr>
            <a:stCxn id="60" idx="3"/>
            <a:endCxn id="87" idx="1"/>
          </p:cNvCxnSpPr>
          <p:nvPr/>
        </p:nvCxnSpPr>
        <p:spPr>
          <a:xfrm flipV="1">
            <a:off x="8857080" y="1725840"/>
            <a:ext cx="806400" cy="352800"/>
          </a:xfrm>
          <a:prstGeom prst="straightConnector1">
            <a:avLst/>
          </a:prstGeom>
          <a:ln w="0">
            <a:solidFill>
              <a:srgbClr val="156082"/>
            </a:solidFill>
            <a:tailEnd len="med" type="triangle" w="med"/>
          </a:ln>
        </p:spPr>
      </p:cxnSp>
      <p:cxnSp>
        <p:nvCxnSpPr>
          <p:cNvPr id="89" name="Straight Arrow Connector 120"/>
          <p:cNvCxnSpPr>
            <a:stCxn id="70" idx="2"/>
            <a:endCxn id="90" idx="0"/>
          </p:cNvCxnSpPr>
          <p:nvPr/>
        </p:nvCxnSpPr>
        <p:spPr>
          <a:xfrm>
            <a:off x="5017680" y="2057040"/>
            <a:ext cx="64080" cy="178200"/>
          </a:xfrm>
          <a:prstGeom prst="straightConnector1">
            <a:avLst/>
          </a:prstGeom>
          <a:ln w="0">
            <a:solidFill>
              <a:srgbClr val="156082"/>
            </a:solidFill>
            <a:tailEnd len="med" type="triangle" w="med"/>
          </a:ln>
        </p:spPr>
      </p:cxnSp>
      <p:sp>
        <p:nvSpPr>
          <p:cNvPr id="90" name="Rectangle: Rounded Corners 121"/>
          <p:cNvSpPr/>
          <p:nvPr/>
        </p:nvSpPr>
        <p:spPr>
          <a:xfrm>
            <a:off x="4069080" y="2234880"/>
            <a:ext cx="2024640" cy="50364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ptos"/>
              </a:rPr>
              <a:t>Output: T type, SDA1, Exotoxins, etc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1" name="Straight Arrow Connector 123"/>
          <p:cNvCxnSpPr>
            <a:stCxn id="65" idx="2"/>
            <a:endCxn id="92" idx="0"/>
          </p:cNvCxnSpPr>
          <p:nvPr/>
        </p:nvCxnSpPr>
        <p:spPr>
          <a:xfrm flipH="1">
            <a:off x="2175480" y="3761280"/>
            <a:ext cx="1893600" cy="474840"/>
          </a:xfrm>
          <a:prstGeom prst="straightConnector1">
            <a:avLst/>
          </a:prstGeom>
          <a:ln w="0">
            <a:solidFill>
              <a:srgbClr val="156082"/>
            </a:solidFill>
            <a:tailEnd len="med" type="triangle" w="med"/>
          </a:ln>
        </p:spPr>
      </p:cxnSp>
      <p:sp>
        <p:nvSpPr>
          <p:cNvPr id="92" name="Rectangle: Rounded Corners 124"/>
          <p:cNvSpPr/>
          <p:nvPr/>
        </p:nvSpPr>
        <p:spPr>
          <a:xfrm>
            <a:off x="1163160" y="4235760"/>
            <a:ext cx="2024640" cy="50364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ptos"/>
              </a:rPr>
              <a:t>Output: Misc AMR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3" name="Straight Arrow Connector 1"/>
          <p:cNvCxnSpPr>
            <a:stCxn id="62" idx="2"/>
            <a:endCxn id="94" idx="0"/>
          </p:cNvCxnSpPr>
          <p:nvPr/>
        </p:nvCxnSpPr>
        <p:spPr>
          <a:xfrm>
            <a:off x="10090080" y="4800240"/>
            <a:ext cx="1013400" cy="868320"/>
          </a:xfrm>
          <a:prstGeom prst="straightConnector1">
            <a:avLst/>
          </a:prstGeom>
          <a:ln w="0">
            <a:solidFill>
              <a:srgbClr val="156082"/>
            </a:solidFill>
            <a:tailEnd len="med" type="triangle" w="med"/>
          </a:ln>
        </p:spPr>
      </p:cxnSp>
      <p:sp>
        <p:nvSpPr>
          <p:cNvPr id="94" name="Rectangle: Rounded Corners 4"/>
          <p:cNvSpPr/>
          <p:nvPr/>
        </p:nvSpPr>
        <p:spPr>
          <a:xfrm>
            <a:off x="10090800" y="5668200"/>
            <a:ext cx="2024640" cy="503640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ptos"/>
              </a:rPr>
              <a:t>Extract new emm sequences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8323560" y="94320"/>
            <a:ext cx="224388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ptos"/>
              </a:rPr>
              <a:t>Option: assembly_snptyper resfinder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280</TotalTime>
  <Application>LibreOffice/24.2.7.2$Linux_X86_64 LibreOffice_project/420$Build-2</Application>
  <AppVersion>15.0000</AppVersion>
  <Words>211</Words>
  <Paragraphs>37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2026-04-13T22:18:41Z</dcterms:created>
  <dc:creator>Estrada, April@CDPH</dc:creator>
  <dc:description/>
  <dc:language>en-US</dc:language>
  <cp:lastModifiedBy/>
  <dcterms:modified xsi:type="dcterms:W3CDTF">2026-04-15T16:20:54Z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13b91bf-ff26-4203-8076-653b9b8a5c80_ActionId">
    <vt:lpwstr>0f206309-3e5b-4089-9c7c-9a273f1f1cce</vt:lpwstr>
  </property>
  <property fmtid="{D5CDD505-2E9C-101B-9397-08002B2CF9AE}" pid="3" name="MSIP_Label_213b91bf-ff26-4203-8076-653b9b8a5c80_ContentBits">
    <vt:lpwstr>0</vt:lpwstr>
  </property>
  <property fmtid="{D5CDD505-2E9C-101B-9397-08002B2CF9AE}" pid="4" name="MSIP_Label_213b91bf-ff26-4203-8076-653b9b8a5c80_Enabled">
    <vt:lpwstr>true</vt:lpwstr>
  </property>
  <property fmtid="{D5CDD505-2E9C-101B-9397-08002B2CF9AE}" pid="5" name="MSIP_Label_213b91bf-ff26-4203-8076-653b9b8a5c80_Method">
    <vt:lpwstr>Standard</vt:lpwstr>
  </property>
  <property fmtid="{D5CDD505-2E9C-101B-9397-08002B2CF9AE}" pid="6" name="MSIP_Label_213b91bf-ff26-4203-8076-653b9b8a5c80_Name">
    <vt:lpwstr>Confidential - Low</vt:lpwstr>
  </property>
  <property fmtid="{D5CDD505-2E9C-101B-9397-08002B2CF9AE}" pid="7" name="MSIP_Label_213b91bf-ff26-4203-8076-653b9b8a5c80_SetDate">
    <vt:lpwstr>2026-04-13T22:38:28Z</vt:lpwstr>
  </property>
  <property fmtid="{D5CDD505-2E9C-101B-9397-08002B2CF9AE}" pid="8" name="MSIP_Label_213b91bf-ff26-4203-8076-653b9b8a5c80_SiteId">
    <vt:lpwstr>1f311b51-f6d9-4153-9bac-55e0ef9641b8</vt:lpwstr>
  </property>
  <property fmtid="{D5CDD505-2E9C-101B-9397-08002B2CF9AE}" pid="9" name="MSIP_Label_213b91bf-ff26-4203-8076-653b9b8a5c80_Tag">
    <vt:lpwstr>10, 3, 0, 1</vt:lpwstr>
  </property>
  <property fmtid="{D5CDD505-2E9C-101B-9397-08002B2CF9AE}" pid="10" name="PresentationFormat">
    <vt:lpwstr>Widescreen</vt:lpwstr>
  </property>
  <property fmtid="{D5CDD505-2E9C-101B-9397-08002B2CF9AE}" pid="11" name="Slides">
    <vt:i4>1</vt:i4>
  </property>
</Properties>
</file>